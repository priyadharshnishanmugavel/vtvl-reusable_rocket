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VTVL Hybrid Rocket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Propulsion System Design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LOX / LCH₄  ·  9-Engine Cluster  ·  Full-Flow Staged Combustion  ·  VTVL + RLV Hybrid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2700">
            <a:solidFill>
              <a:srgbClr val="1A6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Phase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Demo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01752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Launch Vehicle Project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the complete propulsion system design for a Vertical Take-off, Vertical Landing (VTVL) hybrid reusable launch vehicle. The system employs a cluster of nine LOX/LCH₄ full-flow staged combustion engines producing 900 kN total vacuum thrust, managed by a real-time engine control system with automatic failure compensation, phase-based thrust selection, and AI-augmented health monitoring.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simulation covers the full mission profile — from liftoff through Max-Q, MECO, 180° flip, boostback burn, hypersonic re-entry, and precision hover-slam touchdown — integrating IMU, GPS, LIDAR, and radar altimeter sensor fusion. The architecture targets 10–100 reuses per vehicle, 48-hour turnaround, and a launch cost below ₹50 Cr per flight.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8600" y="39776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40690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kN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4544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Thrust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39776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40690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65960" y="4544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Vacuum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39776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40690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9→1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03320" y="4544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39776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40690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40680" y="4544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9776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406908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78040" y="4544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Cycles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4864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Expendable launch vehicles cost ₹200–800 Cr per flight. The entire vehicle is destroyed on every mission.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4864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Indian launch vehicles (PSLV, GSLV) have zero reuse capability. Each mission starts from scratch.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4864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32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Loads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peak temperatures exceed 1500°C. Existing TPS solutions are heavy, expensive, and single-use.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54864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10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Landing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VTVL landing requires sub-metre accuracy with &lt;2 m/s touchdown velocity — unsolved in Indian systems.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54864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Clustering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Single-engine vehicles have zero redundancy. Multi-engine balance &amp; control is an unsolved systems problem.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5176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" y="152704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 LOX/LCH₄ engines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093976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Full-flow staged combustion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66090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of small engines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227832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455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hot-swap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794760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124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350–363 s Isp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65176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868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GNC &amp; Avionics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64992" y="1527048"/>
            <a:ext cx="128016" cy="12801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444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Triple-redundant IMU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093976"/>
            <a:ext cx="128016" cy="12801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0116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GPS/NavIC dual constellation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2660904"/>
            <a:ext cx="128016" cy="12801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578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Flash LIDAR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3227832"/>
            <a:ext cx="128016" cy="12801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455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landing site selection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4992" y="3794760"/>
            <a:ext cx="128016" cy="12801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7124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sensor fusion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86868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868680"/>
            <a:ext cx="265176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868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&amp; TPS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91072" y="1527048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1444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metallic-ceramic TPS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91072" y="209397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0116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SiC honeycomb nose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1072" y="2660904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5786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CFRP landing legs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91072" y="3227832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1455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Ti-6Al-4V grid fins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91072" y="3794760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7124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 spaceplane upper stage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Engine Design — LOX/LCH₄ Staged Combustion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966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9966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Full-flow staged combustion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52728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93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2893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LOX + LCH₄ (methane)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(vacuum)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5819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837944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745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pressure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18745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671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(vacuum)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1671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59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(sea level)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45973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15768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52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ratio (O/F)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275234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 :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4495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expansion 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0449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: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00984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37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TVC gimbal range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3375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593592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301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range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363016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100%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886200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9227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Turbopump LOX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392277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rpm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178808"/>
            <a:ext cx="50292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153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Turbopump LCH₄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94560" y="42153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 rpm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471416"/>
            <a:ext cx="5029200" cy="2834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5079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cycles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94560" y="450799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0" y="9601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LOX turbopump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0" y="1252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rpm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0" y="9601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LCH₄ turbopump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1252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 rpm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0" y="17830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Preburner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0" y="2075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bar · 860 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00800" y="260604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2651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injector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2898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Coaxial plate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33375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3383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chamber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17920" y="36301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bar · 3500 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0" y="416052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(ε=40)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00800" y="4453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Regen-cooled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0" y="1508760"/>
            <a:ext cx="960120" cy="27432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452360" y="1508760"/>
            <a:ext cx="-274320" cy="27432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720840" y="2331720"/>
            <a:ext cx="0" cy="27432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720840" y="3154680"/>
            <a:ext cx="0" cy="18288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720840" y="3886200"/>
            <a:ext cx="0" cy="27432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9-Engine Cluster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73152" cy="69494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87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Opposite-pair balance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outer engine failure → immediate shutdown of diametrically opposite engine to maintain thrust centroid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73152" cy="69494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92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Phase selection (9→3→1)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count drops with each phase: Max-Q=9, Boostback=3, Entry=3, Landing=3, Hover-slam=1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8595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42032"/>
            <a:ext cx="73152" cy="69494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96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Minimum throttle gate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" y="28895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 commanded below 40% throttle — below this threshold combustion becomes unstable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8595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46704"/>
            <a:ext cx="73152" cy="6949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— Health-gated ignition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694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with health_score &lt; 0.5 are blocked from any ignition command — fail-safe hard block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151376"/>
            <a:ext cx="8595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51376"/>
            <a:ext cx="73152" cy="69494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— E0 protection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" y="4498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engine (E0) is last to shut and first to light. E0 failure during hover-slam = full abort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Phase Profile — Full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926080" cy="32918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36976" y="987552"/>
            <a:ext cx="914400" cy="32918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36976" y="98755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87952" y="987552"/>
            <a:ext cx="914400" cy="32918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7952" y="98755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38928" y="987552"/>
            <a:ext cx="1645920" cy="32918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98755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6455664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71600"/>
            <a:ext cx="54864" cy="3657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35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5264" y="143560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143560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57216" y="143560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 km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764792"/>
            <a:ext cx="6455664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764792"/>
            <a:ext cx="54864" cy="365760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55264" y="18288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18288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57216" y="182880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1→15 km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157984"/>
            <a:ext cx="6455664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157984"/>
            <a:ext cx="54864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21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prep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55264" y="222199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222199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57216" y="22219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15→55 km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551176"/>
            <a:ext cx="6455664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551176"/>
            <a:ext cx="54864" cy="365760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6151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+ Flip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55264" y="261518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261518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57216" y="261518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55→65 km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944368"/>
            <a:ext cx="6455664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944368"/>
            <a:ext cx="54864" cy="365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008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55264" y="300837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206240" y="300837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57216" y="300837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65→80 km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337560"/>
            <a:ext cx="6455664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337560"/>
            <a:ext cx="54864" cy="365760"/>
          </a:xfrm>
          <a:prstGeom prst="rect">
            <a:avLst/>
          </a:prstGeom>
          <a:solidFill>
            <a:srgbClr val="8892A0"/>
          </a:solidFill>
          <a:ln w="12700">
            <a:solidFill>
              <a:srgbClr val="8892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55264" y="3401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206240" y="3401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57216" y="340156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730752"/>
            <a:ext cx="6455664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730752"/>
            <a:ext cx="54864" cy="3657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94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burn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55264" y="379476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206240" y="379476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57216" y="37947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80→15 km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123944"/>
            <a:ext cx="6455664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4123944"/>
            <a:ext cx="54864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187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burn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255264" y="418795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206240" y="418795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57216" y="418795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km→200 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517136"/>
            <a:ext cx="6455664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517136"/>
            <a:ext cx="54864" cy="3657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581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Hover-slam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255264" y="458114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206240" y="458114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157216" y="45811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200→0 m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→ 3 → 1 engine selection is the core reusability enabler: low mass penalty, high safety margin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Engineering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FFF0EE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875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loads (1500°C re-entry)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289304"/>
            <a:ext cx="457200" cy="0"/>
          </a:xfrm>
          <a:prstGeom prst="line">
            <a:avLst/>
          </a:prstGeom>
          <a:noFill/>
          <a:ln w="25400">
            <a:solidFill>
              <a:srgbClr val="8892A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960120"/>
            <a:ext cx="3977640" cy="658368"/>
          </a:xfrm>
          <a:prstGeom prst="roundRect">
            <a:avLst>
              <a:gd name="adj" fmla="val 6944"/>
            </a:avLst>
          </a:prstGeom>
          <a:solidFill>
            <a:srgbClr val="EEF7F2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875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1161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metallic-ceramic TPS: SiC tiles + Inconel substrate + FRSI felt isolator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FFF0EE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764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9385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instability &lt;40% throttle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2544" y="2066544"/>
            <a:ext cx="457200" cy="0"/>
          </a:xfrm>
          <a:prstGeom prst="line">
            <a:avLst/>
          </a:prstGeom>
          <a:noFill/>
          <a:ln w="25400">
            <a:solidFill>
              <a:srgbClr val="8892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46320" y="1737360"/>
            <a:ext cx="3977640" cy="658368"/>
          </a:xfrm>
          <a:prstGeom prst="roundRect">
            <a:avLst>
              <a:gd name="adj" fmla="val 6944"/>
            </a:avLst>
          </a:prstGeom>
          <a:solidFill>
            <a:srgbClr val="EEF7F2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764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9385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Phase-switching: reduce engine count rather than deep-throttle any single engine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FFF0EE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715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after engine failure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843784"/>
            <a:ext cx="457200" cy="0"/>
          </a:xfrm>
          <a:prstGeom prst="line">
            <a:avLst/>
          </a:prstGeom>
          <a:noFill/>
          <a:ln w="25400">
            <a:solidFill>
              <a:srgbClr val="8892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46320" y="2514600"/>
            <a:ext cx="3977640" cy="658368"/>
          </a:xfrm>
          <a:prstGeom prst="roundRect">
            <a:avLst>
              <a:gd name="adj" fmla="val 6944"/>
            </a:avLst>
          </a:prstGeom>
          <a:solidFill>
            <a:srgbClr val="EEF7F2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542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715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Opposite-pair rule: automatic symmetric shutdown restores balance in &lt;50 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FFF0E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319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separation flip precision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52544" y="3621024"/>
            <a:ext cx="457200" cy="0"/>
          </a:xfrm>
          <a:prstGeom prst="line">
            <a:avLst/>
          </a:prstGeom>
          <a:noFill/>
          <a:ln w="25400">
            <a:solidFill>
              <a:srgbClr val="8892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46320" y="3291840"/>
            <a:ext cx="3977640" cy="658368"/>
          </a:xfrm>
          <a:prstGeom prst="roundRect">
            <a:avLst>
              <a:gd name="adj" fmla="val 6944"/>
            </a:avLst>
          </a:prstGeom>
          <a:solidFill>
            <a:srgbClr val="EEF7F2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3319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493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Cold-gas RCS + grid fins rotate vehicle 180° in 15 s; ±0.5° tolerance enforced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06908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FFF0EE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0965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270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iterative testing budget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52544" y="4398264"/>
            <a:ext cx="457200" cy="0"/>
          </a:xfrm>
          <a:prstGeom prst="line">
            <a:avLst/>
          </a:prstGeom>
          <a:noFill/>
          <a:ln w="25400">
            <a:solidFill>
              <a:srgbClr val="8892A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46320" y="4069080"/>
            <a:ext cx="3977640" cy="658368"/>
          </a:xfrm>
          <a:prstGeom prst="roundRect">
            <a:avLst>
              <a:gd name="adj" fmla="val 6944"/>
            </a:avLst>
          </a:prstGeom>
          <a:solidFill>
            <a:srgbClr val="EEF7F2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409651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42702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 simulation (1000× flights in software) + incremental flight envelope: 100 m → 10 km → orbit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 System — Up to 1500°C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329184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13432" y="932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41264" y="9326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65976" y="9326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16736"/>
            <a:ext cx="54864" cy="47548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08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Nose cap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40864" y="14081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SiC honeycomb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13832" y="1408176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1600°C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1408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8595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28800"/>
            <a:ext cx="54864" cy="47548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edges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40864" y="192024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 composite + ZrB₂ coating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13832" y="192024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1500°C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flights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340864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40864"/>
            <a:ext cx="54864" cy="47548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323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Windward tiles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40864" y="243230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HRSI SiO₂ ceramic (LI-900)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13832" y="2432304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1260°C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24323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flights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8595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52928"/>
            <a:ext cx="54864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Leeward surface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40864" y="294436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FRCI-12 / Inconel metallic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2944368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800°C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29443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flights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364992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364992"/>
            <a:ext cx="54864" cy="475488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surface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40864" y="345643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 spray foam + MLI blanket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13832" y="3456432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150°C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8368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per flight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877056"/>
            <a:ext cx="8595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877056"/>
            <a:ext cx="54864" cy="4754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968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bay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340864" y="396849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Ablative + metallic heat shield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13832" y="3968496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1200°C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83680" y="39684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 flights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metallic-ceramic integration: strain-isolated felt (FRSI) allows differential thermal expansion ±1320°C without cracking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GNC, Sensor Fusion &amp; Autonomous Landing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Ring-laser gyro IMU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±0.001°/hr drift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&amp;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05840"/>
            <a:ext cx="4023360" cy="347472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NavIC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4081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L1+L2 dual constellation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17007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&amp; velocity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402336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Flash LIDAR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42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range, 5 cm res.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map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24028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240280"/>
            <a:ext cx="402336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altimeter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26426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FMCW, 0.1 m accuracy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Low-altitude altitude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74720"/>
            <a:ext cx="402336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tracker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 arcsec, 2 heads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 phase reference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474720"/>
            <a:ext cx="4023360" cy="3474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camera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60fps, IR+optical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41696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touchdown confirm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trigger sequence: BURN_ARM (2 km) → LEGS_DEPLOY (500 m) → HOVSLAM_ARM (200 m) → ENGINE_CUTOFF (0.5 m, &lt;2 m/s)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— Module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engine_control.py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04241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state machine, 9→3→1 selection, opposite-pair rule, failure isolation, balance law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609344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824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flight_phase.py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719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FSM (11 states), phase transition guards, engine map, abort logic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591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health_monitor.py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39572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kHz sensor polling, rate-of-change anomaly detection, preflight GO/NO-GO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62656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358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07238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(RLG noise model), GPS/NavIC, LIDAR, radar altimeter, complementary filter fusion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712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trajectory integrator (0.5 s ticks), matplotlib 8-panel mission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8595360" cy="594360"/>
          </a:xfrm>
          <a:prstGeom prst="roundRect">
            <a:avLst>
              <a:gd name="adj" fmla="val 7692"/>
            </a:avLst>
          </a:prstGeom>
          <a:solidFill>
            <a:srgbClr val="21262D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442569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orchestrator: preflight → phase demo → sensor demo → full simulation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Mission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123.2 km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altitude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Suborbital demo trajectory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~420 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Liftoff to touchdown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74 848 kg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26864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Propellant 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78 t loaded mass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5156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3 152 kg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03136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remaining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9385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~4% at touchdown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8-Panel Simulation Output: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vs time (km)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761488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vs time (m/s)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6382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vs time (kN)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3273552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6382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engine count (9→3→1)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75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Propellant remaining (tonnes)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3785616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75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pitch angle (90° → −90° → −90°)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297680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87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engine health score (0–1)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4297680"/>
            <a:ext cx="146304" cy="146304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1879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phase timeline (Gantt)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Key 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9692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Opposite-pair balance law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252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software rule: any engine failure triggers automatic shutdown of its 180° opposite. Zero net torque, no GNC intervention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347472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01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7647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Many-small-engine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048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100 kN instead of 1 × 900 kN gives 9× redundancy, deep throttle range via switching, and hot-swap refurbishment.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2560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SiC honeycomb nose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28437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lighter than solid RCC. Domestic supply chain (ISRO/DRDO SiC fibre). Fabricated within India's existing aerospace ecosystem.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92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33558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LIDAR autonomous landing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6393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ML re-selects landing site in real-time. LIDAR point cloud at 10 Hz. Fully autonomous from MECO to touchdown — no ground link.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347472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87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41513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VTVL+RLV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434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VTVL first stage (no runway needed) + RLV-derived spaceplane upper stage. Captures 85% of RLV aero advantage, avoids 100% of runway dependency.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 — Prototype → Orbital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60120"/>
            <a:ext cx="2011680" cy="475488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60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(0–18 mo)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" y="1664208"/>
            <a:ext cx="128016" cy="128016"/>
          </a:xfrm>
          <a:prstGeom prst="ellipse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cluster ground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" y="2322576"/>
            <a:ext cx="128016" cy="128016"/>
          </a:xfrm>
          <a:prstGeom prst="ellipse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tile arc-jet qualification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2980944"/>
            <a:ext cx="128016" cy="128016"/>
          </a:xfrm>
          <a:prstGeom prst="ellipse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950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GNC HIL simulation × 1000 flights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3639312"/>
            <a:ext cx="128016" cy="128016"/>
          </a:xfrm>
          <a:prstGeom prst="ellipse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4787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+ CDR complete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14016" y="96012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14016" y="960120"/>
            <a:ext cx="2011680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14016" y="960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14016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Demo (18–36 mo)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51176" y="1664208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15727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 VTVL hop test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51176" y="2322576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23113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&amp; flip test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51176" y="2980944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88950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validation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51176" y="3639312"/>
            <a:ext cx="128016" cy="128016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354787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subsystems qualified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26864" y="96012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960120"/>
            <a:ext cx="2011680" cy="47548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960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26864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Suborbital Demo (36–48 mo)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64024" y="1664208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15727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suborbital flights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64024" y="2322576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223113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recovery &amp; reuse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64024" y="2980944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288950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turnaround demonstrated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64024" y="3639312"/>
            <a:ext cx="128016" cy="12801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354787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 upper stage first flight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39712" y="96012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39712" y="960120"/>
            <a:ext cx="2011680" cy="47548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9601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9712" y="1170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Demo (48–72 mo)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76872" y="1664208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15727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payload delivery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976872" y="2322576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87184" y="223113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booster first landing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76872" y="2980944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87184" y="2889504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flights/year cadence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76872" y="3639312"/>
            <a:ext cx="128016" cy="128016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87184" y="354787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flight &lt; ₹50 Cr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Estimate — Phase-by-Phase (INR Crores)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96112"/>
          </a:xfrm>
          <a:prstGeom prst="roundRect">
            <a:avLst>
              <a:gd name="adj" fmla="val 5102"/>
            </a:avLst>
          </a:prstGeom>
          <a:solidFill>
            <a:srgbClr val="21262D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87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Prototype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9875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Cr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development &amp; testing: ₹80 Cr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09160" y="13167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arc-jet &amp; materials: ₹30 Cr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GNC + simulation software: ₹15 Cr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&amp; infrastructure: ₹25 Cr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8595360" cy="896112"/>
          </a:xfrm>
          <a:prstGeom prst="roundRect">
            <a:avLst>
              <a:gd name="adj" fmla="val 5102"/>
            </a:avLst>
          </a:prstGeom>
          <a:solidFill>
            <a:srgbClr val="21262D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Subsystem Demo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23408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vehicle assembly: ₹120 Cr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test campaign (10 flights): ₹40 Cr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5968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sensor integration: ₹20 Cr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25968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+ operations: ₹20 Cr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8595360" cy="896112"/>
          </a:xfrm>
          <a:prstGeom prst="roundRect">
            <a:avLst>
              <a:gd name="adj" fmla="val 5102"/>
            </a:avLst>
          </a:prstGeom>
          <a:solidFill>
            <a:srgbClr val="21262D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035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Suborbital Demo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0358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₹350 Cr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33649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vehicles (3 × ₹80 Cr): ₹240 Cr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3649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upgrades: ₹60 Cr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6210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safety + approvals: ₹20 Cr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6210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analysis: ₹30 Cr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8595360" cy="896112"/>
          </a:xfrm>
          <a:prstGeom prst="roundRect">
            <a:avLst>
              <a:gd name="adj" fmla="val 5102"/>
            </a:avLst>
          </a:prstGeom>
          <a:solidFill>
            <a:srgbClr val="21262D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059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Orbital Ops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4059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43891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orbital vehicles: ₹200 Cr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43891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stage (RLV): ₹150 Cr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46451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10-flight operations: ₹100 Cr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46451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Refurbishment infrastructure: ₹50 Cr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Technology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A6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4023360" cy="365760"/>
          </a:xfrm>
          <a:prstGeom prst="rect">
            <a:avLst/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Propellant upgrade → LH₂/LOX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LCH₄ with liquid hydrogen for Isp 450 s+ — cryogenic challenge but enables orbit with smaller vehicle mass.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87552"/>
            <a:ext cx="4023360" cy="3657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Grid-fin actuation authority ×2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081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surface area grid fins with electrohydraulic actuation for hypersonic cross-range manoeuvring during re-entry.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13432"/>
            <a:ext cx="402336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13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On-orbit re-ignition capability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3405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Upper-stage engine qualification for 5+ restarts on-orbit enabling multi-payload deployment in different orbits.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31343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313432"/>
            <a:ext cx="4023360" cy="3657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313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mission manager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73405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flight director replaces human mission control for phases 1–4. Human authority only for pre-launch and payload decisions.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39312"/>
            <a:ext cx="4023360" cy="3657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39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Additive-manufactured engines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3D printing of engine chambers and injectors reduces unit cost 60% and enables design iterations in weeks.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639312"/>
            <a:ext cx="4023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639312"/>
            <a:ext cx="4023360" cy="3657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639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Sea-platform landing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059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sea drone ship for downrange landings extends payload capacity by eliminating boostback propellant cost.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25296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11556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9-engine LOX/LCH₄ cluster with full-flow staged combustion achieves 900 kN thrust with built-in engine-out redundancy — impossible with conventional single-engine designs.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2880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opposite-pair balance law and phase-based engine selection (9→3→1) are original control innovations directly proven in simulation code.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4203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VTVL+RLV architecture scores 9–6 over pure RLV in the comparison matrix, combining propulsive landing flexibility with aerodynamic re-entry efficiency.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55264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software stack (6 Python modules, 1500+ lines) integrates propulsion, GNC, health monitoring, and sensor fusion into a unified, testable simulation.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164592" cy="16459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96849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roadmap (Prototype → Subsystem → Suborbital → Orbital) is costed at ₹1200 Cr total — comparable to a single expendable GSLV mission, but producing a reusable system with 100+ flight capability.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proves that reusable launch is achievable within India's existing industrial and budgetary ecosystem.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VTVL Hybrid Rocket — Full System Design</dc:title>
  <dc:subject>PptxGenJS Presentation</dc:subject>
  <dc:creator>Reusable Launch Vehicle Project</dc:creator>
  <cp:lastModifiedBy>Reusable Launch Vehicle Project</cp:lastModifiedBy>
  <cp:revision>1</cp:revision>
  <dcterms:created xsi:type="dcterms:W3CDTF">2026-04-14T19:50:06Z</dcterms:created>
  <dcterms:modified xsi:type="dcterms:W3CDTF">2026-04-14T19:50:06Z</dcterms:modified>
</cp:coreProperties>
</file>